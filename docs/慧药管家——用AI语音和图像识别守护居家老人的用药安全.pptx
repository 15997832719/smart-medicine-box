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38200" y="628650"/>
            <a:ext cx="247650" cy="19050"/>
          </a:xfrm>
          <a:prstGeom prst="rect">
            <a:avLst/>
          </a:prstGeom>
          <a:solidFill>
            <a:srgbClr val="2E6B57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81100" y="504825"/>
            <a:ext cx="4000500" cy="228600"/>
          </a:xfrm>
          <a:prstGeom prst="rect">
            <a:avLst/>
          </a:prstGeom>
        </p:spPr>
        <p:txBody>
          <a:bodyPr/>
          <a:lstStyle/>
          <a:p>
            <a:r>
              <a:rPr sz="900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　问题定义</a:t>
            </a:r>
            <a:endParaRPr sz="900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334500" y="523875"/>
            <a:ext cx="2019300" cy="190500"/>
          </a:xfrm>
          <a:prstGeom prst="rect">
            <a:avLst/>
          </a:prstGeom>
        </p:spPr>
        <p:txBody>
          <a:bodyPr/>
          <a:lstStyle/>
          <a:p>
            <a:pPr algn="r">
              <a:defRPr sz="82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慧药管家 · 项目汇报</a:t>
            </a:r>
            <a:endParaRPr sz="82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876300"/>
            <a:ext cx="7810500" cy="571500"/>
          </a:xfrm>
          <a:prstGeom prst="rect">
            <a:avLst/>
          </a:prstGeom>
        </p:spPr>
        <p:txBody>
          <a:bodyPr/>
          <a:lstStyle/>
          <a:p>
            <a:r>
              <a:rPr lang="zh-CN" sz="2850" b="1">
                <a:solidFill>
                  <a:srgbClr val="1A2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痛点挖掘</a:t>
            </a:r>
            <a:endParaRPr lang="zh-CN" sz="2850" b="1">
              <a:solidFill>
                <a:srgbClr val="1A2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1562100"/>
            <a:ext cx="9906000" cy="247650"/>
          </a:xfrm>
          <a:prstGeom prst="rect">
            <a:avLst/>
          </a:prstGeom>
        </p:spPr>
        <p:txBody>
          <a:bodyPr/>
          <a:lstStyle/>
          <a:p>
            <a:r>
              <a:rPr sz="116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记不住、看不见、说不出——三道关口，任何一道失守都会变成用药风险。</a:t>
            </a:r>
            <a:endParaRPr sz="116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266950"/>
            <a:ext cx="590550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457450"/>
            <a:ext cx="381000" cy="190500"/>
          </a:xfrm>
          <a:prstGeom prst="rect">
            <a:avLst/>
          </a:prstGeom>
        </p:spPr>
        <p:txBody>
          <a:bodyPr/>
          <a:lstStyle/>
          <a:p>
            <a:r>
              <a:rPr sz="865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865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2419350"/>
            <a:ext cx="5486400" cy="247650"/>
          </a:xfrm>
          <a:prstGeom prst="rect">
            <a:avLst/>
          </a:prstGeom>
        </p:spPr>
        <p:txBody>
          <a:bodyPr/>
          <a:lstStyle/>
          <a:p>
            <a:r>
              <a:rPr sz="1425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记不住：药多、时段多、剂量各不同</a:t>
            </a:r>
            <a:endParaRPr sz="1425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57300" y="2724150"/>
            <a:ext cx="5486400" cy="381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45000"/>
              </a:lnSpc>
              <a:buNone/>
            </a:pPr>
            <a:r>
              <a:rPr sz="97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慢病长期用药，饭前饭后、早晚剂量都不一样，靠记忆和纸质便签很难不出错。</a:t>
            </a:r>
            <a:endParaRPr sz="97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448050"/>
            <a:ext cx="590550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3638550"/>
            <a:ext cx="381000" cy="190500"/>
          </a:xfrm>
          <a:prstGeom prst="rect">
            <a:avLst/>
          </a:prstGeom>
        </p:spPr>
        <p:txBody>
          <a:bodyPr/>
          <a:lstStyle/>
          <a:p>
            <a:r>
              <a:rPr sz="865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865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57300" y="3600450"/>
            <a:ext cx="5486400" cy="247650"/>
          </a:xfrm>
          <a:prstGeom prst="rect">
            <a:avLst/>
          </a:prstGeom>
        </p:spPr>
        <p:txBody>
          <a:bodyPr/>
          <a:lstStyle/>
          <a:p>
            <a:r>
              <a:rPr sz="1425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看不见：子女不在身边，无从确认</a:t>
            </a:r>
            <a:endParaRPr sz="1425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57300" y="3905250"/>
            <a:ext cx="5486400" cy="381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45000"/>
              </a:lnSpc>
              <a:buNone/>
            </a:pPr>
            <a:r>
              <a:rPr sz="97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打电话问“吃了吗”，得到的回答往往靠不住，也没有可以回看的凭证。</a:t>
            </a:r>
            <a:endParaRPr sz="97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4629150"/>
            <a:ext cx="590550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8200" y="4819650"/>
            <a:ext cx="381000" cy="190500"/>
          </a:xfrm>
          <a:prstGeom prst="rect">
            <a:avLst/>
          </a:prstGeom>
        </p:spPr>
        <p:txBody>
          <a:bodyPr/>
          <a:lstStyle/>
          <a:p>
            <a:r>
              <a:rPr sz="865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865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57300" y="4781550"/>
            <a:ext cx="5486400" cy="247650"/>
          </a:xfrm>
          <a:prstGeom prst="rect">
            <a:avLst/>
          </a:prstGeom>
        </p:spPr>
        <p:txBody>
          <a:bodyPr/>
          <a:lstStyle/>
          <a:p>
            <a:r>
              <a:rPr sz="1425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说不出：不会用智能手机，被 App 挡在门外</a:t>
            </a:r>
            <a:endParaRPr sz="1425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57300" y="5086350"/>
            <a:ext cx="5486400" cy="381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45000"/>
              </a:lnSpc>
              <a:buNone/>
            </a:pPr>
            <a:r>
              <a:rPr sz="97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现有健康应用要求解锁、点选、确认，操作门槛本身就把老人排除在外。</a:t>
            </a:r>
            <a:endParaRPr sz="97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124700" y="2057400"/>
            <a:ext cx="4229100" cy="3771900"/>
          </a:xfrm>
          <a:prstGeom prst="roundRect">
            <a:avLst>
              <a:gd name="adj" fmla="val 5051"/>
            </a:avLst>
          </a:prstGeom>
          <a:solidFill>
            <a:srgbClr val="1A2B2A"/>
          </a:solidFill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86650" y="2343150"/>
            <a:ext cx="3429000" cy="190500"/>
          </a:xfrm>
          <a:prstGeom prst="rect">
            <a:avLst/>
          </a:prstGeom>
        </p:spPr>
        <p:txBody>
          <a:bodyPr/>
          <a:lstStyle/>
          <a:p>
            <a:r>
              <a:rPr sz="825" b="1">
                <a:solidFill>
                  <a:srgbClr val="93AFA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由 此 产 生 的 后 果</a:t>
            </a:r>
            <a:endParaRPr sz="825" b="1">
              <a:solidFill>
                <a:srgbClr val="93AFA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7491413" y="2786063"/>
            <a:ext cx="66675" cy="66675"/>
          </a:xfrm>
          <a:prstGeom prst="ellipse">
            <a:avLst/>
          </a:prstGeom>
          <a:solidFill>
            <a:srgbClr val="B4663C"/>
          </a:solidFill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77150" y="2724150"/>
            <a:ext cx="3238500" cy="228600"/>
          </a:xfrm>
          <a:prstGeom prst="rect">
            <a:avLst/>
          </a:prstGeom>
        </p:spPr>
        <p:txBody>
          <a:bodyPr/>
          <a:lstStyle/>
          <a:p>
            <a:r>
              <a:rPr sz="127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漏服</a:t>
            </a:r>
            <a:endParaRPr sz="127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77150" y="2971800"/>
            <a:ext cx="3238500" cy="228600"/>
          </a:xfrm>
          <a:prstGeom prst="rect">
            <a:avLst/>
          </a:prstGeom>
        </p:spPr>
        <p:txBody>
          <a:bodyPr/>
          <a:lstStyle/>
          <a:p>
            <a:r>
              <a:rPr sz="900">
                <a:solidFill>
                  <a:srgbClr val="C4D0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错过时间窗口，血药浓度波动</a:t>
            </a:r>
            <a:endParaRPr sz="900">
              <a:solidFill>
                <a:srgbClr val="C4D0C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7491413" y="3548063"/>
            <a:ext cx="66675" cy="66675"/>
          </a:xfrm>
          <a:prstGeom prst="ellipse">
            <a:avLst/>
          </a:prstGeom>
          <a:solidFill>
            <a:srgbClr val="B4663C"/>
          </a:solidFill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677150" y="3486150"/>
            <a:ext cx="3238500" cy="228600"/>
          </a:xfrm>
          <a:prstGeom prst="rect">
            <a:avLst/>
          </a:prstGeom>
        </p:spPr>
        <p:txBody>
          <a:bodyPr/>
          <a:lstStyle/>
          <a:p>
            <a:r>
              <a:rPr sz="127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重复服药</a:t>
            </a:r>
            <a:endParaRPr sz="127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77150" y="3733800"/>
            <a:ext cx="3238500" cy="228600"/>
          </a:xfrm>
          <a:prstGeom prst="rect">
            <a:avLst/>
          </a:prstGeom>
        </p:spPr>
        <p:txBody>
          <a:bodyPr/>
          <a:lstStyle/>
          <a:p>
            <a:r>
              <a:rPr sz="900">
                <a:solidFill>
                  <a:srgbClr val="C4D0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记不清是否吃过，剂量容易叠加</a:t>
            </a:r>
            <a:endParaRPr sz="900">
              <a:solidFill>
                <a:srgbClr val="C4D0C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7491413" y="4310063"/>
            <a:ext cx="66675" cy="66675"/>
          </a:xfrm>
          <a:prstGeom prst="ellipse">
            <a:avLst/>
          </a:prstGeom>
          <a:solidFill>
            <a:srgbClr val="B4663C"/>
          </a:solidFill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677150" y="4248150"/>
            <a:ext cx="3238500" cy="228600"/>
          </a:xfrm>
          <a:prstGeom prst="rect">
            <a:avLst/>
          </a:prstGeom>
        </p:spPr>
        <p:txBody>
          <a:bodyPr/>
          <a:lstStyle/>
          <a:p>
            <a:r>
              <a:rPr sz="127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过期药风险</a:t>
            </a:r>
            <a:endParaRPr sz="127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677150" y="4495800"/>
            <a:ext cx="3238500" cy="228600"/>
          </a:xfrm>
          <a:prstGeom prst="rect">
            <a:avLst/>
          </a:prstGeom>
        </p:spPr>
        <p:txBody>
          <a:bodyPr/>
          <a:lstStyle/>
          <a:p>
            <a:r>
              <a:rPr sz="900">
                <a:solidFill>
                  <a:srgbClr val="C4D0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药箱无人核对，过期药仍在服用</a:t>
            </a:r>
            <a:endParaRPr sz="900">
              <a:solidFill>
                <a:srgbClr val="C4D0C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7491413" y="5072063"/>
            <a:ext cx="66675" cy="66675"/>
          </a:xfrm>
          <a:prstGeom prst="ellipse">
            <a:avLst/>
          </a:prstGeom>
          <a:solidFill>
            <a:srgbClr val="B4663C"/>
          </a:solidFill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677150" y="5010150"/>
            <a:ext cx="3238500" cy="228600"/>
          </a:xfrm>
          <a:prstGeom prst="rect">
            <a:avLst/>
          </a:prstGeom>
        </p:spPr>
        <p:txBody>
          <a:bodyPr/>
          <a:lstStyle/>
          <a:p>
            <a:r>
              <a:rPr sz="127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用药方法错误</a:t>
            </a:r>
            <a:endParaRPr sz="127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677150" y="5257800"/>
            <a:ext cx="3238500" cy="228600"/>
          </a:xfrm>
          <a:prstGeom prst="rect">
            <a:avLst/>
          </a:prstGeom>
        </p:spPr>
        <p:txBody>
          <a:bodyPr/>
          <a:lstStyle/>
          <a:p>
            <a:r>
              <a:rPr sz="900">
                <a:solidFill>
                  <a:srgbClr val="C4D0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剂量、时机、相互作用无人把关</a:t>
            </a:r>
            <a:endParaRPr sz="900">
              <a:solidFill>
                <a:srgbClr val="C4D0C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38200" y="6324600"/>
            <a:ext cx="1051560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38200" y="6419850"/>
            <a:ext cx="8191500" cy="171450"/>
          </a:xfrm>
          <a:prstGeom prst="rect">
            <a:avLst/>
          </a:prstGeom>
        </p:spPr>
        <p:txBody>
          <a:bodyPr/>
          <a:lstStyle/>
          <a:p>
            <a:r>
              <a: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慧药管家 · 用 AI 语音和图像识别守护居家老人的用药安全</a:t>
            </a:r>
            <a:endParaRPr sz="75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906000" y="6419850"/>
            <a:ext cx="1447800" cy="171450"/>
          </a:xfrm>
          <a:prstGeom prst="rect">
            <a:avLst/>
          </a:prstGeom>
        </p:spPr>
        <p:txBody>
          <a:bodyPr/>
          <a:lstStyle/>
          <a:p>
            <a:pPr algn="r">
              <a:def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 / 03</a:t>
            </a:r>
            <a:endParaRPr sz="75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38200" y="628650"/>
            <a:ext cx="247650" cy="19050"/>
          </a:xfrm>
          <a:prstGeom prst="rect">
            <a:avLst/>
          </a:prstGeom>
          <a:solidFill>
            <a:srgbClr val="2E6B57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81100" y="504825"/>
            <a:ext cx="4000500" cy="228600"/>
          </a:xfrm>
          <a:prstGeom prst="rect">
            <a:avLst/>
          </a:prstGeom>
        </p:spPr>
        <p:txBody>
          <a:bodyPr/>
          <a:lstStyle/>
          <a:p>
            <a:r>
              <a:rPr sz="900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　项目亮点与成果</a:t>
            </a:r>
            <a:endParaRPr sz="900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334500" y="523875"/>
            <a:ext cx="2019300" cy="190500"/>
          </a:xfrm>
          <a:prstGeom prst="rect">
            <a:avLst/>
          </a:prstGeom>
        </p:spPr>
        <p:txBody>
          <a:bodyPr/>
          <a:lstStyle/>
          <a:p>
            <a:pPr algn="r">
              <a:defRPr sz="82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慧药管家 · 项目汇报</a:t>
            </a:r>
            <a:endParaRPr sz="82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838200"/>
            <a:ext cx="10515600" cy="438150"/>
          </a:xfrm>
          <a:prstGeom prst="rect">
            <a:avLst/>
          </a:prstGeom>
        </p:spPr>
        <p:txBody>
          <a:bodyPr/>
          <a:lstStyle/>
          <a:p>
            <a:r>
              <a:rPr lang="zh-CN" sz="2250" b="1">
                <a:solidFill>
                  <a:srgbClr val="1A2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项目亮点及成果</a:t>
            </a:r>
            <a:endParaRPr lang="zh-CN" sz="2250" b="1">
              <a:solidFill>
                <a:srgbClr val="1A2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1333500"/>
            <a:ext cx="9906000" cy="209550"/>
          </a:xfrm>
          <a:prstGeom prst="rect">
            <a:avLst/>
          </a:prstGeom>
        </p:spPr>
        <p:txBody>
          <a:bodyPr/>
          <a:lstStyle/>
          <a:p>
            <a:r>
              <a:rPr sz="101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药箱管起来、提醒说出口、子女看得见 —— 一套设备覆盖居家用药的完整链路。</a:t>
            </a:r>
            <a:endParaRPr sz="101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38200" y="1714500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EFE9DC"/>
          </a:solidFill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714500" y="3352800"/>
            <a:ext cx="914400" cy="76200"/>
          </a:xfrm>
          <a:prstGeom prst="ellipse">
            <a:avLst/>
          </a:prstGeom>
          <a:solidFill>
            <a:srgbClr val="E3DCCB"/>
          </a:solidFill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1619250" y="1866900"/>
            <a:ext cx="1104900" cy="1524000"/>
          </a:xfrm>
          <a:prstGeom prst="roundRect">
            <a:avLst>
              <a:gd name="adj" fmla="val 22414"/>
            </a:avLst>
          </a:prstGeom>
          <a:solidFill>
            <a:srgbClr val="E8E1D2"/>
          </a:solidFill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638300" y="1885950"/>
            <a:ext cx="1066800" cy="1485900"/>
          </a:xfrm>
          <a:prstGeom prst="roundRect">
            <a:avLst>
              <a:gd name="adj" fmla="val 22321"/>
            </a:avLst>
          </a:prstGeom>
          <a:solidFill>
            <a:srgbClr val="FFFDF7"/>
          </a:solidFill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057400" y="1943100"/>
            <a:ext cx="228600" cy="228600"/>
          </a:xfrm>
          <a:prstGeom prst="ellipse">
            <a:avLst/>
          </a:prstGeom>
          <a:solidFill>
            <a:srgbClr val="DCE6E0"/>
          </a:solidFill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2109788" y="1995488"/>
            <a:ext cx="123825" cy="123825"/>
          </a:xfrm>
          <a:prstGeom prst="ellipse">
            <a:avLst/>
          </a:prstGeom>
          <a:solidFill>
            <a:srgbClr val="1A2B2A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2133600" y="2019300"/>
            <a:ext cx="38100" cy="381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1771650" y="2247900"/>
            <a:ext cx="800100" cy="590550"/>
          </a:xfrm>
          <a:prstGeom prst="roundRect">
            <a:avLst>
              <a:gd name="adj" fmla="val 14516"/>
            </a:avLst>
          </a:prstGeom>
          <a:solidFill>
            <a:srgbClr val="1A2B2A"/>
          </a:solidFill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828800" y="2295525"/>
            <a:ext cx="685800" cy="95250"/>
          </a:xfrm>
          <a:prstGeom prst="rect">
            <a:avLst/>
          </a:prstGeom>
        </p:spPr>
        <p:txBody>
          <a:bodyPr/>
          <a:lstStyle/>
          <a:p>
            <a:r>
              <a:rPr sz="490">
                <a:solidFill>
                  <a:srgbClr val="93AFA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09:00</a:t>
            </a:r>
            <a:endParaRPr sz="490">
              <a:solidFill>
                <a:srgbClr val="93AFA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790700" y="2409825"/>
            <a:ext cx="762000" cy="123825"/>
          </a:xfrm>
          <a:prstGeom prst="rect">
            <a:avLst/>
          </a:prstGeom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九九九感冒灵</a:t>
            </a:r>
            <a:endParaRPr sz="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790700" y="2571750"/>
            <a:ext cx="762000" cy="104775"/>
          </a:xfrm>
          <a:prstGeom prst="rect">
            <a:avLst/>
          </a:prstGeom>
        </p:spPr>
        <p:txBody>
          <a:bodyPr/>
          <a:lstStyle/>
          <a:p>
            <a:pPr algn="ctr">
              <a:defRPr sz="490">
                <a:solidFill>
                  <a:srgbClr val="C4D0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90">
                <a:solidFill>
                  <a:srgbClr val="C4D0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一次一袋 · 饭后</a:t>
            </a:r>
            <a:endParaRPr sz="490">
              <a:solidFill>
                <a:srgbClr val="C4D0C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2100263" y="2900363"/>
            <a:ext cx="142875" cy="142875"/>
          </a:xfrm>
          <a:prstGeom prst="ellipse">
            <a:avLst/>
          </a:prstGeom>
          <a:solidFill>
            <a:srgbClr val="E3DBC9"/>
          </a:solidFill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2116455" y="2916555"/>
            <a:ext cx="110490" cy="110490"/>
          </a:xfrm>
          <a:prstGeom prst="ellipse">
            <a:avLst/>
          </a:prstGeom>
          <a:solidFill>
            <a:srgbClr val="F7F4EC"/>
          </a:solidFill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905000" y="3124200"/>
            <a:ext cx="533400" cy="19050"/>
          </a:xfrm>
          <a:prstGeom prst="rect">
            <a:avLst/>
          </a:prstGeom>
          <a:solidFill>
            <a:srgbClr val="DDD6C6"/>
          </a:solidFill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905000" y="3162300"/>
            <a:ext cx="533400" cy="19050"/>
          </a:xfrm>
          <a:prstGeom prst="rect">
            <a:avLst/>
          </a:prstGeom>
          <a:solidFill>
            <a:srgbClr val="DDD6C6"/>
          </a:solidFill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905000" y="3200400"/>
            <a:ext cx="533400" cy="19050"/>
          </a:xfrm>
          <a:prstGeom prst="rect">
            <a:avLst/>
          </a:prstGeom>
          <a:solidFill>
            <a:srgbClr val="DDD6C6"/>
          </a:solidFill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905000" y="3238500"/>
            <a:ext cx="533400" cy="19050"/>
          </a:xfrm>
          <a:prstGeom prst="rect">
            <a:avLst/>
          </a:prstGeom>
          <a:solidFill>
            <a:srgbClr val="DDD6C6"/>
          </a:solidFill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2076450" y="3295650"/>
            <a:ext cx="190500" cy="28575"/>
          </a:xfrm>
          <a:prstGeom prst="roundRect">
            <a:avLst>
              <a:gd name="adj" fmla="val 33333"/>
            </a:avLst>
          </a:prstGeom>
          <a:solidFill>
            <a:srgbClr val="C9C2B2"/>
          </a:solidFill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969645" y="3627120"/>
            <a:ext cx="41910" cy="41910"/>
          </a:xfrm>
          <a:prstGeom prst="ellipse">
            <a:avLst/>
          </a:prstGeom>
          <a:solidFill>
            <a:srgbClr val="2E6B57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66800" y="3581400"/>
            <a:ext cx="590550" cy="133350"/>
          </a:xfrm>
          <a:prstGeom prst="rect">
            <a:avLst/>
          </a:prstGeom>
        </p:spPr>
        <p:txBody>
          <a:bodyPr/>
          <a:lstStyle/>
          <a:p>
            <a:r>
              <a:rPr sz="675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摄像头</a:t>
            </a:r>
            <a:endParaRPr sz="675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76400" y="3581400"/>
            <a:ext cx="1485900" cy="133350"/>
          </a:xfrm>
          <a:prstGeom prst="rect">
            <a:avLst/>
          </a:prstGeom>
        </p:spPr>
        <p:txBody>
          <a:bodyPr/>
          <a:lstStyle/>
          <a:p>
            <a:r>
              <a:rPr sz="66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俯角可调</a:t>
            </a:r>
            <a:endParaRPr sz="66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969645" y="3855720"/>
            <a:ext cx="41910" cy="41910"/>
          </a:xfrm>
          <a:prstGeom prst="ellipse">
            <a:avLst/>
          </a:prstGeom>
          <a:solidFill>
            <a:srgbClr val="2E6B57"/>
          </a:solidFill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66800" y="3810000"/>
            <a:ext cx="590550" cy="133350"/>
          </a:xfrm>
          <a:prstGeom prst="rect">
            <a:avLst/>
          </a:prstGeom>
        </p:spPr>
        <p:txBody>
          <a:bodyPr/>
          <a:lstStyle/>
          <a:p>
            <a:r>
              <a:rPr sz="675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2.0" 彩屏</a:t>
            </a:r>
            <a:endParaRPr sz="675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676400" y="3810000"/>
            <a:ext cx="1485900" cy="133350"/>
          </a:xfrm>
          <a:prstGeom prst="rect">
            <a:avLst/>
          </a:prstGeom>
        </p:spPr>
        <p:txBody>
          <a:bodyPr/>
          <a:lstStyle/>
          <a:p>
            <a:r>
              <a:rPr sz="66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药名与剂量</a:t>
            </a:r>
            <a:endParaRPr sz="66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969645" y="4084320"/>
            <a:ext cx="41910" cy="41910"/>
          </a:xfrm>
          <a:prstGeom prst="ellipse">
            <a:avLst/>
          </a:prstGeom>
          <a:solidFill>
            <a:srgbClr val="2E6B57"/>
          </a:solidFill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66800" y="4038600"/>
            <a:ext cx="590550" cy="133350"/>
          </a:xfrm>
          <a:prstGeom prst="rect">
            <a:avLst/>
          </a:prstGeom>
        </p:spPr>
        <p:txBody>
          <a:bodyPr/>
          <a:lstStyle/>
          <a:p>
            <a:r>
              <a:rPr sz="675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3W 喇叭</a:t>
            </a:r>
            <a:endParaRPr sz="675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76400" y="4038600"/>
            <a:ext cx="1485900" cy="133350"/>
          </a:xfrm>
          <a:prstGeom prst="rect">
            <a:avLst/>
          </a:prstGeom>
        </p:spPr>
        <p:txBody>
          <a:bodyPr/>
          <a:lstStyle/>
          <a:p>
            <a:r>
              <a:rPr sz="66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语音播报</a:t>
            </a:r>
            <a:endParaRPr sz="66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969645" y="4312920"/>
            <a:ext cx="41910" cy="41910"/>
          </a:xfrm>
          <a:prstGeom prst="ellipse">
            <a:avLst/>
          </a:prstGeom>
          <a:solidFill>
            <a:srgbClr val="2E6B57"/>
          </a:solidFill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066800" y="4267200"/>
            <a:ext cx="590550" cy="133350"/>
          </a:xfrm>
          <a:prstGeom prst="rect">
            <a:avLst/>
          </a:prstGeom>
        </p:spPr>
        <p:txBody>
          <a:bodyPr/>
          <a:lstStyle/>
          <a:p>
            <a:r>
              <a:rPr sz="675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人体雷达</a:t>
            </a:r>
            <a:endParaRPr sz="675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676400" y="4267200"/>
            <a:ext cx="1485900" cy="133350"/>
          </a:xfrm>
          <a:prstGeom prst="rect">
            <a:avLst/>
          </a:prstGeom>
        </p:spPr>
        <p:txBody>
          <a:bodyPr/>
          <a:lstStyle/>
          <a:p>
            <a:r>
              <a:rPr sz="66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走近触发</a:t>
            </a:r>
            <a:endParaRPr sz="66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38200" y="4876800"/>
            <a:ext cx="2476500" cy="133350"/>
          </a:xfrm>
          <a:prstGeom prst="rect">
            <a:avLst/>
          </a:prstGeom>
        </p:spPr>
        <p:txBody>
          <a:bodyPr/>
          <a:lstStyle/>
          <a:p>
            <a:pPr algn="ctr">
              <a:defRPr sz="640">
                <a:solidFill>
                  <a:srgbClr val="B9B2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640">
                <a:solidFill>
                  <a:srgbClr val="B9B2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自研 AI 音箱 · 原型示意</a:t>
            </a:r>
            <a:endParaRPr sz="640">
              <a:solidFill>
                <a:srgbClr val="B9B2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3543300" y="17145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FFFDF7"/>
          </a:solidFill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543300" y="1714500"/>
            <a:ext cx="2476500" cy="28575"/>
          </a:xfrm>
          <a:prstGeom prst="rect">
            <a:avLst/>
          </a:prstGeom>
          <a:solidFill>
            <a:srgbClr val="2E6B57"/>
          </a:solidFill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3714750" y="1866900"/>
            <a:ext cx="381000" cy="152400"/>
          </a:xfrm>
          <a:prstGeom prst="rect">
            <a:avLst/>
          </a:prstGeom>
        </p:spPr>
        <p:txBody>
          <a:bodyPr/>
          <a:lstStyle/>
          <a:p>
            <a:r>
              <a:rPr sz="715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715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5162550" y="1847850"/>
            <a:ext cx="685800" cy="171450"/>
          </a:xfrm>
          <a:prstGeom prst="roundRect">
            <a:avLst>
              <a:gd name="adj" fmla="val 50000"/>
            </a:avLst>
          </a:prstGeom>
          <a:solidFill>
            <a:srgbClr val="E7EEE7"/>
          </a:solidFill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162550" y="1876425"/>
            <a:ext cx="685800" cy="133350"/>
          </a:xfrm>
          <a:prstGeom prst="rect">
            <a:avLst/>
          </a:prstGeom>
        </p:spPr>
        <p:txBody>
          <a:bodyPr/>
          <a:lstStyle/>
          <a:p>
            <a:pPr algn="ctr">
              <a:defRPr sz="600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600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已实现</a:t>
            </a:r>
            <a:endParaRPr sz="600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714750" y="2057400"/>
            <a:ext cx="2133600" cy="228600"/>
          </a:xfrm>
          <a:prstGeom prst="rect">
            <a:avLst/>
          </a:prstGeom>
        </p:spPr>
        <p:txBody>
          <a:bodyPr/>
          <a:lstStyle/>
          <a:p>
            <a:r>
              <a:rPr sz="1200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家庭药箱管理</a:t>
            </a:r>
            <a:endParaRPr sz="1200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714750" y="2343150"/>
            <a:ext cx="2133600" cy="4191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sz="82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药品入库、库存与有效期一屏掌握，</a:t>
            </a:r>
            <a:endParaRPr sz="82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82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本地说明书库补全用法与禁忌。</a:t>
            </a:r>
            <a:endParaRPr sz="82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3714750" y="2876550"/>
            <a:ext cx="213360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3714750" y="2971800"/>
            <a:ext cx="2133600" cy="381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40000"/>
              </a:lnSpc>
              <a:buNone/>
            </a:pPr>
            <a:r>
              <a:rPr sz="67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证据：药品 / 库存 / 有效期 / 说明书四类能力已上线</a:t>
            </a:r>
            <a:endParaRPr sz="67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6172200" y="17145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FFFDF7"/>
          </a:solidFill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172200" y="1714500"/>
            <a:ext cx="2476500" cy="28575"/>
          </a:xfrm>
          <a:prstGeom prst="rect">
            <a:avLst/>
          </a:prstGeom>
          <a:solidFill>
            <a:srgbClr val="B4663C"/>
          </a:solidFill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343650" y="1866900"/>
            <a:ext cx="381000" cy="152400"/>
          </a:xfrm>
          <a:prstGeom prst="rect">
            <a:avLst/>
          </a:prstGeom>
        </p:spPr>
        <p:txBody>
          <a:bodyPr/>
          <a:lstStyle/>
          <a:p>
            <a:r>
              <a:rPr sz="715" b="1">
                <a:solidFill>
                  <a:srgbClr val="B466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715" b="1">
              <a:solidFill>
                <a:srgbClr val="B466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7791450" y="1847850"/>
            <a:ext cx="685800" cy="171450"/>
          </a:xfrm>
          <a:prstGeom prst="roundRect">
            <a:avLst>
              <a:gd name="adj" fmla="val 50000"/>
            </a:avLst>
          </a:prstGeom>
          <a:solidFill>
            <a:srgbClr val="F6E9E0"/>
          </a:solidFill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7791450" y="1876425"/>
            <a:ext cx="685800" cy="133350"/>
          </a:xfrm>
          <a:prstGeom prst="rect">
            <a:avLst/>
          </a:prstGeom>
        </p:spPr>
        <p:txBody>
          <a:bodyPr/>
          <a:lstStyle/>
          <a:p>
            <a:pPr algn="ctr">
              <a:defRPr sz="600" b="1">
                <a:solidFill>
                  <a:srgbClr val="B466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600" b="1">
                <a:solidFill>
                  <a:srgbClr val="B466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联调中</a:t>
            </a:r>
            <a:endParaRPr sz="600" b="1">
              <a:solidFill>
                <a:srgbClr val="B466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343650" y="2057400"/>
            <a:ext cx="2133600" cy="228600"/>
          </a:xfrm>
          <a:prstGeom prst="rect">
            <a:avLst/>
          </a:prstGeom>
        </p:spPr>
        <p:txBody>
          <a:bodyPr/>
          <a:lstStyle/>
          <a:p>
            <a:r>
              <a:rPr sz="1200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用药提醒</a:t>
            </a:r>
            <a:endParaRPr sz="1200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343650" y="2343150"/>
            <a:ext cx="2133600" cy="4191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sz="82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到点自动播报，走近药盒再次触发；</a:t>
            </a:r>
            <a:endParaRPr sz="82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82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语音提问直接回答今天吃什么。</a:t>
            </a:r>
            <a:endParaRPr sz="82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343650" y="2876550"/>
            <a:ext cx="213360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343650" y="2971800"/>
            <a:ext cx="2133600" cy="381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40000"/>
              </a:lnSpc>
              <a:buNone/>
            </a:pPr>
            <a:r>
              <a:rPr sz="67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证据：App 定时通知与语音问答已跑通</a:t>
            </a:r>
            <a:endParaRPr sz="67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8801100" y="17145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FFFDF7"/>
          </a:solidFill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801100" y="1714500"/>
            <a:ext cx="2476500" cy="28575"/>
          </a:xfrm>
          <a:prstGeom prst="rect">
            <a:avLst/>
          </a:prstGeom>
          <a:solidFill>
            <a:srgbClr val="2E6B57"/>
          </a:solidFill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8972550" y="1866900"/>
            <a:ext cx="381000" cy="152400"/>
          </a:xfrm>
          <a:prstGeom prst="rect">
            <a:avLst/>
          </a:prstGeom>
        </p:spPr>
        <p:txBody>
          <a:bodyPr/>
          <a:lstStyle/>
          <a:p>
            <a:r>
              <a:rPr sz="715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715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10420350" y="1847850"/>
            <a:ext cx="685800" cy="171450"/>
          </a:xfrm>
          <a:prstGeom prst="roundRect">
            <a:avLst>
              <a:gd name="adj" fmla="val 50000"/>
            </a:avLst>
          </a:prstGeom>
          <a:solidFill>
            <a:srgbClr val="E7EEE7"/>
          </a:solidFill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0420350" y="1876425"/>
            <a:ext cx="685800" cy="133350"/>
          </a:xfrm>
          <a:prstGeom prst="rect">
            <a:avLst/>
          </a:prstGeom>
        </p:spPr>
        <p:txBody>
          <a:bodyPr/>
          <a:lstStyle/>
          <a:p>
            <a:pPr algn="ctr">
              <a:defRPr sz="600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600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已实现</a:t>
            </a:r>
            <a:endParaRPr sz="600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972550" y="2057400"/>
            <a:ext cx="2133600" cy="228600"/>
          </a:xfrm>
          <a:prstGeom prst="rect">
            <a:avLst/>
          </a:prstGeom>
        </p:spPr>
        <p:txBody>
          <a:bodyPr/>
          <a:lstStyle/>
          <a:p>
            <a:r>
              <a:rPr sz="1200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子女协同共管</a:t>
            </a:r>
            <a:endParaRPr sz="1200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972550" y="2343150"/>
            <a:ext cx="2133600" cy="4191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sz="82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家属绑定老人账号，远程查看提醒与</a:t>
            </a:r>
            <a:endParaRPr sz="82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82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服药影像，异常及时提醒。</a:t>
            </a:r>
            <a:endParaRPr sz="82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8972550" y="2876550"/>
            <a:ext cx="213360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8972550" y="2971800"/>
            <a:ext cx="2133600" cy="381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40000"/>
              </a:lnSpc>
              <a:buNone/>
            </a:pPr>
            <a:r>
              <a:rPr sz="67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证据：家属绑定、远程记录与影像回看</a:t>
            </a:r>
            <a:endParaRPr sz="67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3543300" y="3733800"/>
            <a:ext cx="7734300" cy="381000"/>
          </a:xfrm>
          <a:prstGeom prst="roundRect">
            <a:avLst>
              <a:gd name="adj" fmla="val 20000"/>
            </a:avLst>
          </a:prstGeom>
          <a:solidFill>
            <a:srgbClr val="E7EEE7"/>
          </a:solidFill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3733800" y="3838575"/>
            <a:ext cx="7429500" cy="190500"/>
          </a:xfrm>
          <a:prstGeom prst="rect">
            <a:avLst/>
          </a:prstGeom>
        </p:spPr>
        <p:txBody>
          <a:bodyPr/>
          <a:lstStyle/>
          <a:p>
            <a:r>
              <a:rPr sz="825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扩展亮点｜同住多位老人：一位老人一套设备档案，药箱、计划与记录各自独立，互不干扰。</a:t>
            </a:r>
            <a:endParaRPr sz="825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3543300" y="4267200"/>
            <a:ext cx="1905000" cy="171450"/>
          </a:xfrm>
          <a:prstGeom prst="rect">
            <a:avLst/>
          </a:prstGeom>
        </p:spPr>
        <p:txBody>
          <a:bodyPr/>
          <a:lstStyle/>
          <a:p>
            <a:r>
              <a:rPr sz="790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项目成果</a:t>
            </a:r>
            <a:endParaRPr sz="790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7524750" y="4267200"/>
            <a:ext cx="2667000" cy="171450"/>
          </a:xfrm>
          <a:prstGeom prst="rect">
            <a:avLst/>
          </a:prstGeom>
        </p:spPr>
        <p:txBody>
          <a:bodyPr/>
          <a:lstStyle/>
          <a:p>
            <a:r>
              <a:rPr sz="790" b="1">
                <a:solidFill>
                  <a:srgbClr val="B466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学生成果 · 独立完成</a:t>
            </a:r>
            <a:endParaRPr sz="790" b="1">
              <a:solidFill>
                <a:srgbClr val="B466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3543300" y="4457700"/>
            <a:ext cx="3714750" cy="9525"/>
          </a:xfrm>
          <a:prstGeom prst="rect">
            <a:avLst/>
          </a:prstGeom>
          <a:solidFill>
            <a:srgbClr val="2E6B57"/>
          </a:solidFill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7524750" y="4457700"/>
            <a:ext cx="3752850" cy="9525"/>
          </a:xfrm>
          <a:prstGeom prst="rect">
            <a:avLst/>
          </a:prstGeom>
          <a:solidFill>
            <a:srgbClr val="B4663C"/>
          </a:solidFill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3543300" y="4552950"/>
            <a:ext cx="3714750" cy="171450"/>
          </a:xfrm>
          <a:prstGeom prst="rect">
            <a:avLst/>
          </a:prstGeom>
        </p:spPr>
        <p:txBody>
          <a:bodyPr/>
          <a:lstStyle/>
          <a:p>
            <a:r>
              <a: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· 自研 AI 音箱原型，语音问答真机跑通</a:t>
            </a:r>
            <a:endParaRPr sz="75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3543300" y="4762500"/>
            <a:ext cx="3714750" cy="171450"/>
          </a:xfrm>
          <a:prstGeom prst="rect">
            <a:avLst/>
          </a:prstGeom>
        </p:spPr>
        <p:txBody>
          <a:bodyPr/>
          <a:lstStyle/>
          <a:p>
            <a:r>
              <a: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· 摄像头 + 雷达方案确定，联动开发中</a:t>
            </a:r>
            <a:endParaRPr sz="75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3543300" y="4972050"/>
            <a:ext cx="3714750" cy="171450"/>
          </a:xfrm>
          <a:prstGeom prst="rect">
            <a:avLst/>
          </a:prstGeom>
        </p:spPr>
        <p:txBody>
          <a:bodyPr/>
          <a:lstStyle/>
          <a:p>
            <a:r>
              <a: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· 软件著作权申请中，专利拟下一阶段申报</a:t>
            </a:r>
            <a:endParaRPr sz="75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7524750" y="4552950"/>
            <a:ext cx="3752850" cy="171450"/>
          </a:xfrm>
          <a:prstGeom prst="rect">
            <a:avLst/>
          </a:prstGeom>
        </p:spPr>
        <p:txBody>
          <a:bodyPr/>
          <a:lstStyle/>
          <a:p>
            <a:r>
              <a: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· 云端后端、多端账号与家属绑定</a:t>
            </a:r>
            <a:endParaRPr sz="75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7524750" y="4762500"/>
            <a:ext cx="3752850" cy="171450"/>
          </a:xfrm>
          <a:prstGeom prst="rect">
            <a:avLst/>
          </a:prstGeom>
        </p:spPr>
        <p:txBody>
          <a:bodyPr/>
          <a:lstStyle/>
          <a:p>
            <a:r>
              <a: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· 小度技能配置与一次性配对码</a:t>
            </a:r>
            <a:endParaRPr sz="75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7524750" y="4972050"/>
            <a:ext cx="3752850" cy="171450"/>
          </a:xfrm>
          <a:prstGeom prst="rect">
            <a:avLst/>
          </a:prstGeom>
        </p:spPr>
        <p:txBody>
          <a:bodyPr/>
          <a:lstStyle/>
          <a:p>
            <a:r>
              <a: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· App 语音助手、提醒与记录页</a:t>
            </a:r>
            <a:endParaRPr sz="75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3543300" y="5219700"/>
            <a:ext cx="7734300" cy="152400"/>
          </a:xfrm>
          <a:prstGeom prst="rect">
            <a:avLst/>
          </a:prstGeom>
        </p:spPr>
        <p:txBody>
          <a:bodyPr/>
          <a:lstStyle/>
          <a:p>
            <a:r>
              <a:rPr sz="640">
                <a:solidFill>
                  <a:srgbClr val="B9B2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「学生成果」条目由团队学生独立完成；软著受理号、获奖与专利材料另附。</a:t>
            </a:r>
            <a:endParaRPr sz="640">
              <a:solidFill>
                <a:srgbClr val="B9B2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838200" y="6324600"/>
            <a:ext cx="1051560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838200" y="6419850"/>
            <a:ext cx="8191500" cy="171450"/>
          </a:xfrm>
          <a:prstGeom prst="rect">
            <a:avLst/>
          </a:prstGeom>
        </p:spPr>
        <p:txBody>
          <a:bodyPr/>
          <a:lstStyle/>
          <a:p>
            <a:r>
              <a: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慧药管家 · 用 AI 语音和图像识别守护居家老人的用药安全</a:t>
            </a:r>
            <a:endParaRPr sz="75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9906000" y="6419850"/>
            <a:ext cx="1447800" cy="171450"/>
          </a:xfrm>
          <a:prstGeom prst="rect">
            <a:avLst/>
          </a:prstGeom>
        </p:spPr>
        <p:txBody>
          <a:bodyPr/>
          <a:lstStyle/>
          <a:p>
            <a:pPr algn="r">
              <a:def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/ 03</a:t>
            </a:r>
            <a:endParaRPr sz="75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38200" y="628650"/>
            <a:ext cx="247650" cy="19050"/>
          </a:xfrm>
          <a:prstGeom prst="rect">
            <a:avLst/>
          </a:prstGeom>
          <a:solidFill>
            <a:srgbClr val="2E6B57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81100" y="504825"/>
            <a:ext cx="4000500" cy="228600"/>
          </a:xfrm>
          <a:prstGeom prst="rect">
            <a:avLst/>
          </a:prstGeom>
        </p:spPr>
        <p:txBody>
          <a:bodyPr/>
          <a:lstStyle/>
          <a:p>
            <a:r>
              <a:rPr sz="900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　水平定位</a:t>
            </a:r>
            <a:endParaRPr sz="900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334500" y="523875"/>
            <a:ext cx="2019300" cy="190500"/>
          </a:xfrm>
          <a:prstGeom prst="rect">
            <a:avLst/>
          </a:prstGeom>
        </p:spPr>
        <p:txBody>
          <a:bodyPr/>
          <a:lstStyle/>
          <a:p>
            <a:pPr algn="r">
              <a:defRPr sz="82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慧药管家 · 项目汇报</a:t>
            </a:r>
            <a:endParaRPr sz="82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876300"/>
            <a:ext cx="10515600" cy="533400"/>
          </a:xfrm>
          <a:prstGeom prst="rect">
            <a:avLst/>
          </a:prstGeom>
        </p:spPr>
        <p:txBody>
          <a:bodyPr/>
          <a:lstStyle/>
          <a:p>
            <a:r>
              <a:rPr lang="zh-CN" sz="2550" b="1">
                <a:solidFill>
                  <a:srgbClr val="1A2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水平定位</a:t>
            </a:r>
            <a:endParaRPr lang="zh-CN" sz="2550" b="1">
              <a:solidFill>
                <a:srgbClr val="1A2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1504950"/>
            <a:ext cx="9906000" cy="228600"/>
          </a:xfrm>
          <a:prstGeom prst="rect">
            <a:avLst/>
          </a:prstGeom>
        </p:spPr>
        <p:txBody>
          <a:bodyPr/>
          <a:lstStyle/>
          <a:p>
            <a:r>
              <a:rPr sz="109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市场不需要被教育，缺的是把语音能力接到家庭用药数据上的产品。</a:t>
            </a:r>
            <a:endParaRPr sz="109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885950"/>
            <a:ext cx="2857500" cy="190500"/>
          </a:xfrm>
          <a:prstGeom prst="rect">
            <a:avLst/>
          </a:prstGeom>
        </p:spPr>
        <p:txBody>
          <a:bodyPr/>
          <a:lstStyle/>
          <a:p>
            <a:r>
              <a:rPr sz="865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市场基本面</a:t>
            </a:r>
            <a:endParaRPr sz="865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114550"/>
            <a:ext cx="3200400" cy="14288"/>
          </a:xfrm>
          <a:prstGeom prst="rect">
            <a:avLst/>
          </a:prstGeom>
          <a:solidFill>
            <a:srgbClr val="2E6B57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266950"/>
            <a:ext cx="3048000" cy="438150"/>
          </a:xfrm>
          <a:prstGeom prst="rect">
            <a:avLst/>
          </a:prstGeom>
        </p:spPr>
        <p:txBody>
          <a:bodyPr/>
          <a:lstStyle/>
          <a:p>
            <a:r>
              <a:rPr sz="2700" b="1">
                <a:solidFill>
                  <a:srgbClr val="2E6B5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3.1 亿</a:t>
            </a:r>
            <a:endParaRPr sz="2700" b="1">
              <a:solidFill>
                <a:srgbClr val="2E6B5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724150"/>
            <a:ext cx="3143250" cy="171450"/>
          </a:xfrm>
          <a:prstGeom prst="rect">
            <a:avLst/>
          </a:prstGeom>
        </p:spPr>
        <p:txBody>
          <a:bodyPr/>
          <a:lstStyle/>
          <a:p>
            <a:r>
              <a:rPr sz="79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60 岁及以上人口（2024 年末）</a:t>
            </a:r>
            <a:endParaRPr sz="79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028950"/>
            <a:ext cx="3048000" cy="438150"/>
          </a:xfrm>
          <a:prstGeom prst="rect">
            <a:avLst/>
          </a:prstGeom>
        </p:spPr>
        <p:txBody>
          <a:bodyPr/>
          <a:lstStyle/>
          <a:p>
            <a:r>
              <a:rPr sz="2700" b="1">
                <a:solidFill>
                  <a:srgbClr val="2E6B5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22.0%</a:t>
            </a:r>
            <a:endParaRPr sz="2700" b="1">
              <a:solidFill>
                <a:srgbClr val="2E6B5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3486150"/>
            <a:ext cx="3143250" cy="171450"/>
          </a:xfrm>
          <a:prstGeom prst="rect">
            <a:avLst/>
          </a:prstGeom>
        </p:spPr>
        <p:txBody>
          <a:bodyPr/>
          <a:lstStyle/>
          <a:p>
            <a:r>
              <a:rPr sz="79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占总人口比重</a:t>
            </a:r>
            <a:endParaRPr sz="79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3790950"/>
            <a:ext cx="3048000" cy="438150"/>
          </a:xfrm>
          <a:prstGeom prst="rect">
            <a:avLst/>
          </a:prstGeom>
        </p:spPr>
        <p:txBody>
          <a:bodyPr/>
          <a:lstStyle/>
          <a:p>
            <a:r>
              <a:rPr sz="2700" b="1">
                <a:solidFill>
                  <a:srgbClr val="2E6B5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约 90%</a:t>
            </a:r>
            <a:endParaRPr sz="2700" b="1">
              <a:solidFill>
                <a:srgbClr val="2E6B5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4248150"/>
            <a:ext cx="3143250" cy="171450"/>
          </a:xfrm>
          <a:prstGeom prst="rect">
            <a:avLst/>
          </a:prstGeom>
        </p:spPr>
        <p:txBody>
          <a:bodyPr/>
          <a:lstStyle/>
          <a:p>
            <a:r>
              <a:rPr sz="79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选择居家养老（9073 格局）</a:t>
            </a:r>
            <a:endParaRPr sz="79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4591050"/>
            <a:ext cx="3143250" cy="4191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45000"/>
              </a:lnSpc>
              <a:buNone/>
            </a:pPr>
            <a:r>
              <a:rPr sz="640">
                <a:solidFill>
                  <a:srgbClr val="B9B2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数据来源：国家统计局《2024 年国民经济和社会发展统计公报》；9073 为养老行业通行口径。</a:t>
            </a:r>
            <a:endParaRPr sz="640">
              <a:solidFill>
                <a:srgbClr val="B9B2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76750" y="1905000"/>
            <a:ext cx="1257300" cy="171450"/>
          </a:xfrm>
          <a:prstGeom prst="rect">
            <a:avLst/>
          </a:prstGeom>
        </p:spPr>
        <p:txBody>
          <a:bodyPr/>
          <a:lstStyle/>
          <a:p>
            <a:r>
              <a:rPr sz="715" b="1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类别</a:t>
            </a:r>
            <a:endParaRPr sz="715" b="1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829300" y="1905000"/>
            <a:ext cx="2190750" cy="171450"/>
          </a:xfrm>
          <a:prstGeom prst="rect">
            <a:avLst/>
          </a:prstGeom>
        </p:spPr>
        <p:txBody>
          <a:bodyPr/>
          <a:lstStyle/>
          <a:p>
            <a:r>
              <a:rPr sz="715" b="1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市场状态</a:t>
            </a:r>
            <a:endParaRPr sz="715" b="1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15300" y="1905000"/>
            <a:ext cx="3238500" cy="171450"/>
          </a:xfrm>
          <a:prstGeom prst="rect">
            <a:avLst/>
          </a:prstGeom>
        </p:spPr>
        <p:txBody>
          <a:bodyPr/>
          <a:lstStyle/>
          <a:p>
            <a:r>
              <a:rPr sz="715" b="1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能力边界</a:t>
            </a:r>
            <a:endParaRPr sz="715" b="1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476750" y="2152650"/>
            <a:ext cx="6877050" cy="14288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476750" y="2286000"/>
            <a:ext cx="1257300" cy="190500"/>
          </a:xfrm>
          <a:prstGeom prst="rect">
            <a:avLst/>
          </a:prstGeom>
        </p:spPr>
        <p:txBody>
          <a:bodyPr/>
          <a:lstStyle/>
          <a:p>
            <a:r>
              <a:rPr sz="940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国内 · 通用语音</a:t>
            </a:r>
            <a:endParaRPr sz="940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76750" y="2486025"/>
            <a:ext cx="1257300" cy="152400"/>
          </a:xfrm>
          <a:prstGeom prst="rect">
            <a:avLst/>
          </a:prstGeom>
        </p:spPr>
        <p:txBody>
          <a:bodyPr/>
          <a:lstStyle/>
          <a:p>
            <a:r>
              <a:rPr sz="71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小度、天猫精灵</a:t>
            </a:r>
            <a:endParaRPr sz="71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829300" y="2305050"/>
            <a:ext cx="2171700" cy="190500"/>
          </a:xfrm>
          <a:prstGeom prst="rect">
            <a:avLst/>
          </a:prstGeom>
        </p:spPr>
        <p:txBody>
          <a:bodyPr/>
          <a:lstStyle/>
          <a:p>
            <a:r>
              <a:rPr sz="825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累计出货过亿台，家庭语音入口成熟</a:t>
            </a:r>
            <a:endParaRPr sz="825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115300" y="2305050"/>
            <a:ext cx="3238500" cy="190500"/>
          </a:xfrm>
          <a:prstGeom prst="rect">
            <a:avLst/>
          </a:prstGeom>
        </p:spPr>
        <p:txBody>
          <a:bodyPr/>
          <a:lstStyle/>
          <a:p>
            <a:r>
              <a:rPr sz="825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不掌握家庭用药数据，健康问询易被平台接走</a:t>
            </a:r>
            <a:endParaRPr sz="825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76750" y="2876550"/>
            <a:ext cx="687705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476750" y="2952750"/>
            <a:ext cx="1257300" cy="190500"/>
          </a:xfrm>
          <a:prstGeom prst="rect">
            <a:avLst/>
          </a:prstGeom>
        </p:spPr>
        <p:txBody>
          <a:bodyPr/>
          <a:lstStyle/>
          <a:p>
            <a:r>
              <a:rPr sz="940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国外 · 智能药盒</a:t>
            </a:r>
            <a:endParaRPr sz="940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476750" y="3152775"/>
            <a:ext cx="1257300" cy="152400"/>
          </a:xfrm>
          <a:prstGeom prst="rect">
            <a:avLst/>
          </a:prstGeom>
        </p:spPr>
        <p:txBody>
          <a:bodyPr/>
          <a:lstStyle/>
          <a:p>
            <a:r>
              <a:rPr sz="71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Pillo、Hero</a:t>
            </a:r>
            <a:endParaRPr sz="71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829300" y="2971800"/>
            <a:ext cx="2171700" cy="190500"/>
          </a:xfrm>
          <a:prstGeom prst="rect">
            <a:avLst/>
          </a:prstGeom>
        </p:spPr>
        <p:txBody>
          <a:bodyPr/>
          <a:lstStyle/>
          <a:p>
            <a:r>
              <a:rPr sz="825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验证了依从性需求，但价格高</a:t>
            </a:r>
            <a:endParaRPr sz="825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15300" y="2971800"/>
            <a:ext cx="3238500" cy="190500"/>
          </a:xfrm>
          <a:prstGeom prst="rect">
            <a:avLst/>
          </a:prstGeom>
        </p:spPr>
        <p:txBody>
          <a:bodyPr/>
          <a:lstStyle/>
          <a:p>
            <a:r>
              <a:rPr sz="825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交互弱，未进入国内普通家庭</a:t>
            </a:r>
            <a:endParaRPr sz="825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476750" y="3543300"/>
            <a:ext cx="687705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476750" y="3619500"/>
            <a:ext cx="1257300" cy="190500"/>
          </a:xfrm>
          <a:prstGeom prst="rect">
            <a:avLst/>
          </a:prstGeom>
        </p:spPr>
        <p:txBody>
          <a:bodyPr/>
          <a:lstStyle/>
          <a:p>
            <a:r>
              <a:rPr sz="940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国内 · 用药 App</a:t>
            </a:r>
            <a:endParaRPr sz="940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476750" y="3819525"/>
            <a:ext cx="1257300" cy="152400"/>
          </a:xfrm>
          <a:prstGeom prst="rect">
            <a:avLst/>
          </a:prstGeom>
        </p:spPr>
        <p:txBody>
          <a:bodyPr/>
          <a:lstStyle/>
          <a:p>
            <a:r>
              <a:rPr sz="71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各类提醒应用</a:t>
            </a:r>
            <a:endParaRPr sz="71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829300" y="3638550"/>
            <a:ext cx="2171700" cy="190500"/>
          </a:xfrm>
          <a:prstGeom prst="rect">
            <a:avLst/>
          </a:prstGeom>
        </p:spPr>
        <p:txBody>
          <a:bodyPr/>
          <a:lstStyle/>
          <a:p>
            <a:r>
              <a:rPr sz="825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数量多、开发门槛低</a:t>
            </a:r>
            <a:endParaRPr sz="825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115300" y="3638550"/>
            <a:ext cx="3238500" cy="190500"/>
          </a:xfrm>
          <a:prstGeom prst="rect">
            <a:avLst/>
          </a:prstGeom>
        </p:spPr>
        <p:txBody>
          <a:bodyPr/>
          <a:lstStyle/>
          <a:p>
            <a:r>
              <a:rPr sz="825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依赖老人主动操作智能手机</a:t>
            </a:r>
            <a:endParaRPr sz="825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476750" y="4210050"/>
            <a:ext cx="687705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476750" y="4286250"/>
            <a:ext cx="1257300" cy="190500"/>
          </a:xfrm>
          <a:prstGeom prst="rect">
            <a:avLst/>
          </a:prstGeom>
        </p:spPr>
        <p:txBody>
          <a:bodyPr/>
          <a:lstStyle/>
          <a:p>
            <a:r>
              <a:rPr sz="940" b="1">
                <a:solidFill>
                  <a:srgbClr val="2E6B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本项目</a:t>
            </a:r>
            <a:endParaRPr sz="940" b="1">
              <a:solidFill>
                <a:srgbClr val="2E6B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476750" y="4486275"/>
            <a:ext cx="1257300" cy="152400"/>
          </a:xfrm>
          <a:prstGeom prst="rect">
            <a:avLst/>
          </a:prstGeom>
        </p:spPr>
        <p:txBody>
          <a:bodyPr/>
          <a:lstStyle/>
          <a:p>
            <a:r>
              <a:rPr sz="715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音箱 / 摄像头 / App</a:t>
            </a:r>
            <a:endParaRPr sz="715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829300" y="4305300"/>
            <a:ext cx="2171700" cy="190500"/>
          </a:xfrm>
          <a:prstGeom prst="rect">
            <a:avLst/>
          </a:prstGeom>
        </p:spPr>
        <p:txBody>
          <a:bodyPr/>
          <a:lstStyle/>
          <a:p>
            <a:r>
              <a:rPr sz="825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原型已验证，软著申请中</a:t>
            </a:r>
            <a:endParaRPr sz="825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115300" y="4305300"/>
            <a:ext cx="3238500" cy="190500"/>
          </a:xfrm>
          <a:prstGeom prst="rect">
            <a:avLst/>
          </a:prstGeom>
        </p:spPr>
        <p:txBody>
          <a:bodyPr/>
          <a:lstStyle/>
          <a:p>
            <a:r>
              <a:rPr sz="825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语音、视觉、用药数据形成闭环</a:t>
            </a:r>
            <a:endParaRPr sz="825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476750" y="4876800"/>
            <a:ext cx="687705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40" name="圆角矩形 39"/>
          <p:cNvSpPr>
            <a:spLocks noGrp="1"/>
          </p:cNvSpPr>
          <p:nvPr/>
        </p:nvSpPr>
        <p:spPr>
          <a:xfrm>
            <a:off x="838200" y="5295900"/>
            <a:ext cx="10515600" cy="514350"/>
          </a:xfrm>
          <a:prstGeom prst="roundRect">
            <a:avLst>
              <a:gd name="adj" fmla="val 18519"/>
            </a:avLst>
          </a:prstGeom>
          <a:solidFill>
            <a:srgbClr val="E7EEE7"/>
          </a:solidFill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066800" y="5438775"/>
            <a:ext cx="10134600" cy="228600"/>
          </a:xfrm>
          <a:prstGeom prst="rect">
            <a:avLst/>
          </a:prstGeom>
        </p:spPr>
        <p:txBody>
          <a:bodyPr/>
          <a:lstStyle/>
          <a:p>
            <a:r>
              <a:rPr sz="975" b="1">
                <a:solidFill>
                  <a:srgbClr val="1A2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结论：需求侧已被验证，供给侧仍然割裂 —— 这正是本项目的切入位置。</a:t>
            </a:r>
            <a:endParaRPr sz="975" b="1">
              <a:solidFill>
                <a:srgbClr val="1A2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38200" y="6324600"/>
            <a:ext cx="10515600" cy="9525"/>
          </a:xfrm>
          <a:prstGeom prst="rect">
            <a:avLst/>
          </a:prstGeom>
          <a:solidFill>
            <a:srgbClr val="D9D2C3"/>
          </a:solidFill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38200" y="6419850"/>
            <a:ext cx="8191500" cy="171450"/>
          </a:xfrm>
          <a:prstGeom prst="rect">
            <a:avLst/>
          </a:prstGeom>
        </p:spPr>
        <p:txBody>
          <a:bodyPr/>
          <a:lstStyle/>
          <a:p>
            <a:r>
              <a: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慧药管家 · 用 AI 语音和图像识别守护居家老人的用药安全</a:t>
            </a:r>
            <a:endParaRPr sz="75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906000" y="6419850"/>
            <a:ext cx="1447800" cy="171450"/>
          </a:xfrm>
          <a:prstGeom prst="rect">
            <a:avLst/>
          </a:prstGeom>
        </p:spPr>
        <p:txBody>
          <a:bodyPr/>
          <a:lstStyle/>
          <a:p>
            <a:pPr algn="r">
              <a:def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750">
                <a:solidFill>
                  <a:srgbClr val="6F6A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/ 03</a:t>
            </a:r>
            <a:endParaRPr sz="750">
              <a:solidFill>
                <a:srgbClr val="6F6A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</Words>
  <Application>WPS 演示</Application>
  <PresentationFormat>Converted Presentation</PresentationFormat>
  <Paragraphs>205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Noto Sans SC</vt:lpstr>
      <vt:lpstr>Noto Serif SC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熊明悦</cp:lastModifiedBy>
  <cp:revision>1</cp:revision>
  <dcterms:created xsi:type="dcterms:W3CDTF">2026-10-19T05:10:19Z</dcterms:created>
  <dcterms:modified xsi:type="dcterms:W3CDTF">2026-10-19T05:10:19Z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B78FC5C7B1EE45258DDBA878F571E254_12</vt:lpwstr>
  </property>
  <property fmtid="{D5CDD505-2E9C-101B-9397-08002B2CF9AE}" pid="3" name="KSOProductBuildVer">
    <vt:lpwstr>2052-12.1.0.26373</vt:lpwstr>
  </property>
</Properties>
</file>